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64" r:id="rId4"/>
    <p:sldId id="265" r:id="rId5"/>
    <p:sldId id="263" r:id="rId6"/>
    <p:sldId id="266"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D554B3-6833-AD1D-FDFC-5533294E8DBC}" v="730" dt="2026-10-18T14:39:25.301"/>
    <p1510:client id="{AF78C76D-8695-514F-978E-9CBFC9446BD3}" v="23" dt="2026-10-18T14:51:54.360"/>
    <p1510:client id="{C49326FB-F2E7-3F88-3801-3924E7B2E1C1}" v="29" dt="2026-10-18T14:14:02.9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243"/>
    <p:restoredTop sz="65497"/>
  </p:normalViewPr>
  <p:slideViewPr>
    <p:cSldViewPr snapToGrid="0" snapToObjects="1">
      <p:cViewPr varScale="1">
        <p:scale>
          <a:sx n="54" d="100"/>
          <a:sy n="54" d="100"/>
        </p:scale>
        <p:origin x="2152" y="2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5837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[0:00-0:45]  HOOK AND USER  (45s)</a:t>
            </a:r>
          </a:p>
          <a:p>
            <a:endParaRPr dirty="0"/>
          </a:p>
          <a:p>
            <a:r>
              <a:rPr dirty="0"/>
              <a:t>"Meet our user: the relief budget officer at the USDA Farm Service Agency state office in Iowa</a:t>
            </a:r>
          </a:p>
          <a:p>
            <a:r>
              <a:rPr dirty="0"/>
              <a:t>and Nebraska. On August 15 they decide two things - which counties get help first, and how many</a:t>
            </a:r>
          </a:p>
          <a:p>
            <a:r>
              <a:rPr dirty="0"/>
              <a:t>dollars to reserve. Crop insurance claims will not be settled for months, so they are deciding</a:t>
            </a:r>
          </a:p>
          <a:p>
            <a:r>
              <a:rPr dirty="0"/>
              <a:t>in the dark.</a:t>
            </a:r>
          </a:p>
          <a:p>
            <a:endParaRPr dirty="0"/>
          </a:p>
          <a:p>
            <a:r>
              <a:rPr dirty="0"/>
              <a:t>What they have today is a yes/no eligibility trigger built on the Drought Monitor: in our</a:t>
            </a:r>
          </a:p>
          <a:p>
            <a:r>
              <a:rPr dirty="0"/>
              <a:t>implementation, D2 for eight consecutive weekly maps, or any D3 or worse, using maps released by</a:t>
            </a:r>
          </a:p>
          <a:p>
            <a:r>
              <a:rPr dirty="0"/>
              <a:t>August 13. That tells them who is eligible. It does not tell them how large the loss will be, or</a:t>
            </a:r>
          </a:p>
          <a:p>
            <a:r>
              <a:rPr dirty="0"/>
              <a:t>where inside the state it will land.</a:t>
            </a:r>
          </a:p>
          <a:p>
            <a:endParaRPr dirty="0"/>
          </a:p>
          <a:p>
            <a:r>
              <a:rPr dirty="0"/>
              <a:t>We built the missing half."</a:t>
            </a:r>
          </a:p>
          <a:p>
            <a:endParaRPr dirty="0"/>
          </a:p>
          <a:p>
            <a:r>
              <a:rPr dirty="0"/>
              <a:t>TIMING: do not linger. 45 seconds, then move.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PROBLEM — EARLY COUNTY PRIORITIZATION (about 40–50 seconds)</a:t>
            </a:r>
          </a:p>
          <a:p>
            <a:endParaRPr dirty="0"/>
          </a:p>
          <a:p>
            <a:r>
              <a:rPr dirty="0"/>
              <a:t>“Our user is the USDA Farm Service Agency’s state disaster-relief offices in Iowa and Nebraska.</a:t>
            </a:r>
          </a:p>
          <a:p>
            <a:endParaRPr dirty="0"/>
          </a:p>
          <a:p>
            <a:r>
              <a:rPr dirty="0"/>
              <a:t>USDA has drought eligibility indicators. Those indicators can tell us when a county meets certain drought-based criteria, but they are not forecasts of which counties will suffer the greatest crop losses. And final crop-insurance outcomes are not yet available in mid-August.</a:t>
            </a:r>
          </a:p>
          <a:p>
            <a:endParaRPr dirty="0"/>
          </a:p>
          <a:p>
            <a:r>
              <a:rPr dirty="0"/>
              <a:t>Our question is: can we identify and rank the counties likely to suffer the most drought damage before final insurance results are known? We also want to identify emerging losses in counties below the severe-drought D2 threshold.</a:t>
            </a:r>
          </a:p>
          <a:p>
            <a:endParaRPr dirty="0"/>
          </a:p>
          <a:p>
            <a:r>
              <a:rPr dirty="0"/>
              <a:t>August 15 is the model snapshot date we selected for historical testing—not an official USDA deadline. We use only information knowable on that date and later compare our rankings with realized insurance losses.</a:t>
            </a:r>
          </a:p>
          <a:p>
            <a:endParaRPr dirty="0"/>
          </a:p>
          <a:p>
            <a:r>
              <a:rPr dirty="0"/>
              <a:t>HARVEST is designed to help FSA state offices prioritize early outreach and disaster-response planning. It does not replace program eligibility rules.”</a:t>
            </a:r>
          </a:p>
          <a:p>
            <a:endParaRPr dirty="0"/>
          </a:p>
          <a:p>
            <a:r>
              <a:rPr dirty="0"/>
              <a:t>TRANSITION: “So how much better is that early ranking than using drought eligibility indicators alone?”</a:t>
            </a:r>
          </a:p>
          <a:p>
            <a:endParaRPr dirty="0"/>
          </a:p>
          <a:p>
            <a:r>
              <a:rPr dirty="0"/>
              <a:t>ACCURACY: Insurance claims may begin before August 15; final losses and settled payouts are generally not yet known. Do not suggest that FSA has an official August 15 county-ranking deadline.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[1:35-2:35]  HOW WE KNOW IT WORKS  (60s)  *** THE CORE SLIDE ***</a:t>
            </a:r>
          </a:p>
          <a:p>
            <a:endParaRPr/>
          </a:p>
          <a:p>
            <a:r>
              <a:t>Five clicks - one per bar. Let each land before the next.</a:t>
            </a:r>
          </a:p>
          <a:p>
            <a:endParaRPr/>
          </a:p>
          <a:p>
            <a:r>
              <a:t>"We trained on 2000 to 2015, froze the model, and only then ran 2016 to 2025. Ten years the</a:t>
            </a:r>
          </a:p>
          <a:p>
            <a:r>
              <a:t>model had never seen.</a:t>
            </a:r>
          </a:p>
          <a:p>
            <a:endParaRPr/>
          </a:p>
          <a:p>
            <a:r>
              <a:t>The test: if you can only reach twenty counties first, how much of the real drought payout do</a:t>
            </a:r>
          </a:p>
          <a:p>
            <a:r>
              <a:t>you actually cover?</a:t>
            </a:r>
          </a:p>
          <a:p>
            <a:endParaRPr/>
          </a:p>
          <a:p>
            <a:r>
              <a:t> [click] Picking at random gets you 21%.</a:t>
            </a:r>
          </a:p>
          <a:p>
            <a:r>
              <a:t> [click] The USDA trigger gets you 26%.</a:t>
            </a:r>
          </a:p>
          <a:p>
            <a:r>
              <a:t> [click] A simple drought-map formula gets 40%.</a:t>
            </a:r>
          </a:p>
          <a:p>
            <a:r>
              <a:t> [click] Our model gets 54%.</a:t>
            </a:r>
          </a:p>
          <a:p>
            <a:r>
              <a:t> [click] And perfect hindsight - knowing the answer in advance - would get 73%.</a:t>
            </a:r>
          </a:p>
          <a:p>
            <a:endParaRPr/>
          </a:p>
          <a:p>
            <a:r>
              <a:t>So against the trigger we roughly double the payout covered, and we close about half the distance</a:t>
            </a:r>
          </a:p>
          <a:p>
            <a:r>
              <a:t>to a perfect ranking. This is not one lucky window: our top 20 beat the simple formula in all 21</a:t>
            </a:r>
          </a:p>
          <a:p>
            <a:r>
              <a:t>windows of five years or more."</a:t>
            </a:r>
          </a:p>
          <a:p>
            <a:endParaRPr/>
          </a:p>
          <a:p>
            <a:r>
              <a:t>IF ASKED 'did you tune on the test years?': No. Selection used walk-forward plus validation only,</a:t>
            </a:r>
          </a:p>
          <a:p>
            <a:r>
              <a:t>and the choice is written down in app/model/DECISIONS.md before the test run. Some test years were</a:t>
            </a:r>
          </a:p>
          <a:p>
            <a:r>
              <a:t>discussed in earlier exploration - we say so on the limits slide.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[4:05-4:50]  LIVE DEMO  (45s)  *** DRIVE IT, DO NOT READ THIS SLIDE ***</a:t>
            </a:r>
          </a:p>
          <a:p>
            <a:endParaRPr dirty="0"/>
          </a:p>
          <a:p>
            <a:r>
              <a:rPr dirty="0"/>
              <a:t>BEFORE THE SESSION: start the app and click through all four tabs once so everything is cached.</a:t>
            </a:r>
          </a:p>
          <a:p>
            <a:r>
              <a:rPr dirty="0"/>
              <a:t>First load of Explore 3D takes ~25 seconds cold. Keep this slide up as the fallback if it hangs.</a:t>
            </a:r>
          </a:p>
          <a:p>
            <a:endParaRPr dirty="0"/>
          </a:p>
          <a:p>
            <a:r>
              <a:rPr dirty="0"/>
              <a:t>CLICK PATH - 45 seconds, no detours:</a:t>
            </a:r>
          </a:p>
          <a:p>
            <a:r>
              <a:rPr dirty="0"/>
              <a:t> 1. Explore 3D. "Real records, 2000 to 2025. Each bar is a county, height is estimated crop loss."</a:t>
            </a:r>
          </a:p>
          <a:p>
            <a:r>
              <a:rPr dirty="0"/>
              <a:t>    Drag the year strip to 2012. Let them watch the state go red. Hover one county - the panel</a:t>
            </a:r>
          </a:p>
          <a:p>
            <a:r>
              <a:rPr dirty="0"/>
              <a:t>    shows yield against trend, weeks in D2+, soil water.</a:t>
            </a:r>
          </a:p>
          <a:p>
            <a:r>
              <a:rPr dirty="0"/>
              <a:t> 2. Planner. Pick a county, set the drought level to D2. "An estimated crop-value loss for that</a:t>
            </a:r>
          </a:p>
          <a:p>
            <a:r>
              <a:rPr dirty="0"/>
              <a:t>    county, with the price left as an editable assumption rather than a hidden constant."</a:t>
            </a:r>
          </a:p>
          <a:p>
            <a:r>
              <a:rPr dirty="0"/>
              <a:t> 3. Evidence. Scroll once. "Every filter, definition and limit is in the product."</a:t>
            </a:r>
          </a:p>
          <a:p>
            <a:endParaRPr dirty="0"/>
          </a:p>
          <a:p>
            <a:r>
              <a:rPr dirty="0"/>
              <a:t>HONESTY LINE - say it, do not wait to be asked:</a:t>
            </a:r>
          </a:p>
          <a:p>
            <a:r>
              <a:rPr dirty="0"/>
              <a:t>"One thing to be clear about: the Planner page runs a prototype lookup. The validated model you</a:t>
            </a:r>
          </a:p>
          <a:p>
            <a:r>
              <a:rPr dirty="0"/>
              <a:t>just saw the numbers from is in the repo and is our next integration step."</a:t>
            </a:r>
          </a:p>
          <a:p>
            <a:endParaRPr dirty="0"/>
          </a:p>
          <a:p>
            <a:r>
              <a:rPr dirty="0"/>
              <a:t>That sentence costs five seconds and removes the sharpest question a judge can ask.</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[5:20-5:35]  CREDITS AND CLOSE  (15s)</a:t>
            </a:r>
          </a:p>
          <a:p>
            <a:endParaRPr dirty="0"/>
          </a:p>
          <a:p>
            <a:r>
              <a:rPr dirty="0"/>
              <a:t>"Team </a:t>
            </a:r>
            <a:r>
              <a:rPr lang="en-US" dirty="0"/>
              <a:t>HARVEST</a:t>
            </a:r>
            <a:r>
              <a:rPr dirty="0"/>
              <a:t>. Everything here is public USDA and NOAA data, the code is open, and every number</a:t>
            </a:r>
          </a:p>
          <a:p>
            <a:r>
              <a:rPr dirty="0"/>
              <a:t>on these slides traces back to a frozen held-out test run - that trace is written up in the repo.</a:t>
            </a:r>
          </a:p>
          <a:p>
            <a:endParaRPr dirty="0"/>
          </a:p>
          <a:p>
            <a:r>
              <a:rPr dirty="0"/>
              <a:t>On AI use: we used Claude Code for code, analysis and this deck. </a:t>
            </a:r>
            <a:r>
              <a:rPr lang="en-US" dirty="0"/>
              <a:t>We planned </a:t>
            </a:r>
            <a:r>
              <a:rPr lang="en-US" dirty="0" err="1"/>
              <a:t>Higgsfield</a:t>
            </a:r>
            <a:r>
              <a:rPr lang="en-US" dirty="0"/>
              <a:t> motion</a:t>
            </a:r>
          </a:p>
          <a:p>
            <a:r>
              <a:rPr lang="en-US" dirty="0"/>
              <a:t>backgrounds and kept the prompts in the repo, but the account was free-tier so nothing was</a:t>
            </a:r>
          </a:p>
          <a:p>
            <a:r>
              <a:rPr lang="en-US" dirty="0"/>
              <a:t>generated - the backgrounds you have been looking at were drawn in the repo and are illustration,</a:t>
            </a:r>
          </a:p>
          <a:p>
            <a:r>
              <a:rPr dirty="0"/>
              <a:t>never data.</a:t>
            </a:r>
          </a:p>
          <a:p>
            <a:endParaRPr dirty="0"/>
          </a:p>
          <a:p>
            <a:r>
              <a:rPr dirty="0"/>
              <a:t>Where does the relief go first? For this officer, it is now a number instead of a guess.</a:t>
            </a:r>
          </a:p>
          <a:p>
            <a:r>
              <a:rPr dirty="0"/>
              <a:t>Happy to take questions."</a:t>
            </a:r>
          </a:p>
          <a:p>
            <a:endParaRPr dirty="0"/>
          </a:p>
          <a:p>
            <a:r>
              <a:rPr dirty="0"/>
              <a:t>*** BEFORE SUBMITTING: replace the team placeholder with real names and GitHub usernames. ***</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7348A-AC22-87FF-9F8E-52FA52704A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37895-7848-7494-F306-2B0BFC1478FE}"/>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74A5CCF0-0E70-F696-D84E-F7165FFE0CFC}"/>
              </a:ext>
            </a:extLst>
          </p:cNvPr>
          <p:cNvSpPr>
            <a:spLocks noGrp="1"/>
          </p:cNvSpPr>
          <p:nvPr>
            <p:ph type="body" sz="quarter" idx="3"/>
          </p:nvPr>
        </p:nvSpPr>
        <p:spPr/>
        <p:txBody>
          <a:bodyPr/>
          <a:lstStyle/>
          <a:p>
            <a:r>
              <a:t>[4:05-4:50]  LIVE DEMO  (45s)  *** DRIVE IT, DO NOT READ THIS SLIDE ***</a:t>
            </a:r>
          </a:p>
          <a:p>
            <a:endParaRPr/>
          </a:p>
          <a:p>
            <a:r>
              <a:t>BEFORE THE SESSION: start the app and click through all four tabs once so everything is cached.</a:t>
            </a:r>
          </a:p>
          <a:p>
            <a:r>
              <a:t>First load of Explore 3D takes ~25 seconds cold. Keep this slide up as the fallback if it hangs.</a:t>
            </a:r>
          </a:p>
          <a:p>
            <a:endParaRPr/>
          </a:p>
          <a:p>
            <a:r>
              <a:t>CLICK PATH - 45 seconds, no detours:</a:t>
            </a:r>
          </a:p>
          <a:p>
            <a:r>
              <a:t> 1. Explore 3D. "Real records, 2000 to 2025. Each bar is a county, height is estimated crop loss."</a:t>
            </a:r>
          </a:p>
          <a:p>
            <a:r>
              <a:t>    Drag the year strip to 2012. Let them watch the state go red. Hover one county - the panel</a:t>
            </a:r>
          </a:p>
          <a:p>
            <a:r>
              <a:t>    shows yield against trend, weeks in D2+, soil water.</a:t>
            </a:r>
          </a:p>
          <a:p>
            <a:r>
              <a:t> 2. Planner. Pick a county, set the drought level to D2. "An estimated crop-value loss for that</a:t>
            </a:r>
          </a:p>
          <a:p>
            <a:r>
              <a:t>    county, with the price left as an editable assumption rather than a hidden constant."</a:t>
            </a:r>
          </a:p>
          <a:p>
            <a:r>
              <a:t> 3. Evidence. Scroll once. "Every filter, definition and limit is in the product."</a:t>
            </a:r>
          </a:p>
          <a:p>
            <a:endParaRPr/>
          </a:p>
          <a:p>
            <a:r>
              <a:t>HONESTY LINE - say it, do not wait to be asked:</a:t>
            </a:r>
          </a:p>
          <a:p>
            <a:r>
              <a:t>"One thing to be clear about: the Planner page runs a prototype lookup. The validated model you</a:t>
            </a:r>
          </a:p>
          <a:p>
            <a:r>
              <a:t>just saw the numbers from is in the repo and is our next integration step."</a:t>
            </a:r>
          </a:p>
          <a:p>
            <a:endParaRPr/>
          </a:p>
          <a:p>
            <a:r>
              <a:t>That sentence costs five seconds and removes the sharpest question a judge can ask.</a:t>
            </a:r>
          </a:p>
        </p:txBody>
      </p:sp>
      <p:sp>
        <p:nvSpPr>
          <p:cNvPr id="4" name="Slide Number Placeholder 3">
            <a:extLst>
              <a:ext uri="{FF2B5EF4-FFF2-40B4-BE49-F238E27FC236}">
                <a16:creationId xmlns:a16="http://schemas.microsoft.com/office/drawing/2014/main" id="{8067DEF7-9CF0-1147-C1E5-BA9D05AADDE9}"/>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619372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bg_hero.jpg"/>
          <p:cNvPicPr>
            <a:picLocks noChangeAspect="1"/>
          </p:cNvPicPr>
          <p:nvPr/>
        </p:nvPicPr>
        <p:blipFill>
          <a:blip r:embed="rId3"/>
          <a:stretch>
            <a:fillRect/>
          </a:stretch>
        </p:blipFill>
        <p:spPr>
          <a:xfrm>
            <a:off x="0" y="0"/>
            <a:ext cx="12191695" cy="6858000"/>
          </a:xfrm>
          <a:prstGeom prst="rect">
            <a:avLst/>
          </a:prstGeom>
        </p:spPr>
      </p:pic>
      <p:sp>
        <p:nvSpPr>
          <p:cNvPr id="4" name="Rectangle 3"/>
          <p:cNvSpPr/>
          <p:nvPr/>
        </p:nvSpPr>
        <p:spPr>
          <a:xfrm>
            <a:off x="0" y="0"/>
            <a:ext cx="12191695" cy="6858000"/>
          </a:xfrm>
          <a:prstGeom prst="rect">
            <a:avLst/>
          </a:prstGeom>
          <a:solidFill>
            <a:srgbClr val="07090C">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4573" y="954392"/>
            <a:ext cx="8229600" cy="204864"/>
          </a:xfrm>
          <a:prstGeom prst="rect">
            <a:avLst/>
          </a:prstGeom>
          <a:noFill/>
        </p:spPr>
        <p:txBody>
          <a:bodyPr wrap="square" lIns="0" tIns="0" rIns="0" bIns="0" anchor="t">
            <a:spAutoFit/>
          </a:bodyPr>
          <a:lstStyle/>
          <a:p>
            <a:pPr algn="l">
              <a:lnSpc>
                <a:spcPct val="125000"/>
              </a:lnSpc>
            </a:pPr>
            <a:r>
              <a:rPr sz="1150" b="1" cap="all" spc="240" dirty="0">
                <a:solidFill>
                  <a:srgbClr val="F2A33A"/>
                </a:solidFill>
                <a:latin typeface="Menlo"/>
              </a:rPr>
              <a:t>Drought assistance targeting  ·  Team </a:t>
            </a:r>
            <a:r>
              <a:rPr lang="en-US" sz="1150" b="1" cap="all" spc="240" dirty="0" err="1">
                <a:solidFill>
                  <a:srgbClr val="F2A33A"/>
                </a:solidFill>
                <a:latin typeface="Menlo"/>
              </a:rPr>
              <a:t>HARvest</a:t>
            </a:r>
            <a:endParaRPr lang="en-US" sz="1150" b="1" cap="all" spc="240" dirty="0">
              <a:solidFill>
                <a:srgbClr val="F2A33A"/>
              </a:solidFill>
              <a:latin typeface="Menlo"/>
            </a:endParaRPr>
          </a:p>
        </p:txBody>
      </p:sp>
      <p:sp>
        <p:nvSpPr>
          <p:cNvPr id="6" name="TextBox 5"/>
          <p:cNvSpPr txBox="1"/>
          <p:nvPr/>
        </p:nvSpPr>
        <p:spPr>
          <a:xfrm>
            <a:off x="686755" y="2461484"/>
            <a:ext cx="10473459" cy="1933158"/>
          </a:xfrm>
          <a:prstGeom prst="rect">
            <a:avLst/>
          </a:prstGeom>
          <a:noFill/>
        </p:spPr>
        <p:txBody>
          <a:bodyPr wrap="square" lIns="0" tIns="0" rIns="0" bIns="0" anchor="t">
            <a:spAutoFit/>
          </a:bodyPr>
          <a:lstStyle/>
          <a:p>
            <a:pPr algn="ctr">
              <a:lnSpc>
                <a:spcPct val="104000"/>
              </a:lnSpc>
            </a:pPr>
            <a:r>
              <a:rPr sz="6200" b="1">
                <a:solidFill>
                  <a:srgbClr val="F6F2EA"/>
                </a:solidFill>
                <a:latin typeface="Avenir Next"/>
              </a:rPr>
              <a:t>Where does the </a:t>
            </a:r>
            <a:r>
              <a:rPr lang="en-US" sz="6200" b="1">
                <a:solidFill>
                  <a:srgbClr val="F6F2EA"/>
                </a:solidFill>
                <a:latin typeface="Avenir Next"/>
              </a:rPr>
              <a:t>relief go first</a:t>
            </a:r>
            <a:r>
              <a:rPr sz="6200" b="1">
                <a:solidFill>
                  <a:srgbClr val="F6F2EA"/>
                </a:solidFill>
                <a:latin typeface="Avenir Next"/>
              </a:rPr>
              <a:t>?</a:t>
            </a:r>
            <a:endParaRPr lang="en-US">
              <a:ea typeface="Calibri"/>
              <a:cs typeface="Calibri"/>
            </a:endParaRPr>
          </a:p>
        </p:txBody>
      </p:sp>
      <p:sp>
        <p:nvSpPr>
          <p:cNvPr id="10" name="TextBox 9"/>
          <p:cNvSpPr txBox="1"/>
          <p:nvPr/>
        </p:nvSpPr>
        <p:spPr>
          <a:xfrm>
            <a:off x="685800" y="6291072"/>
            <a:ext cx="7315200" cy="274320"/>
          </a:xfrm>
          <a:prstGeom prst="rect">
            <a:avLst/>
          </a:prstGeom>
          <a:noFill/>
        </p:spPr>
        <p:txBody>
          <a:bodyPr wrap="square" lIns="0" tIns="0" rIns="0" bIns="0" anchor="t">
            <a:spAutoFit/>
          </a:bodyPr>
          <a:lstStyle/>
          <a:p>
            <a:pPr algn="l">
              <a:lnSpc>
                <a:spcPct val="125000"/>
              </a:lnSpc>
            </a:pPr>
            <a:r>
              <a:rPr sz="1050" b="0">
                <a:solidFill>
                  <a:srgbClr val="7C8792"/>
                </a:solidFill>
                <a:latin typeface="Menlo"/>
              </a:rPr>
              <a:t>DSU Data to Harvest Hackathon 2026</a:t>
            </a:r>
          </a:p>
        </p:txBody>
      </p:sp>
      <p:sp>
        <p:nvSpPr>
          <p:cNvPr id="7" name="TextBox 6">
            <a:extLst>
              <a:ext uri="{FF2B5EF4-FFF2-40B4-BE49-F238E27FC236}">
                <a16:creationId xmlns:a16="http://schemas.microsoft.com/office/drawing/2014/main" id="{F0FFCC37-4221-871D-FD84-A8032EE15123}"/>
              </a:ext>
            </a:extLst>
          </p:cNvPr>
          <p:cNvSpPr txBox="1"/>
          <p:nvPr/>
        </p:nvSpPr>
        <p:spPr>
          <a:xfrm>
            <a:off x="6648833" y="6337098"/>
            <a:ext cx="7315200" cy="187039"/>
          </a:xfrm>
          <a:prstGeom prst="rect">
            <a:avLst/>
          </a:prstGeom>
          <a:noFill/>
        </p:spPr>
        <p:txBody>
          <a:bodyPr wrap="square" lIns="0" tIns="0" rIns="0" bIns="0" anchor="t">
            <a:spAutoFit/>
          </a:bodyPr>
          <a:lstStyle/>
          <a:p>
            <a:pPr>
              <a:lnSpc>
                <a:spcPct val="125000"/>
              </a:lnSpc>
            </a:pPr>
            <a:r>
              <a:rPr lang="en-US" sz="1050">
                <a:solidFill>
                  <a:srgbClr val="7C8792"/>
                </a:solidFill>
                <a:latin typeface="Menlo"/>
              </a:rPr>
              <a:t>Evans </a:t>
            </a:r>
            <a:r>
              <a:rPr lang="en-US" sz="1050" err="1">
                <a:solidFill>
                  <a:srgbClr val="7C8792"/>
                </a:solidFill>
                <a:latin typeface="Menlo"/>
              </a:rPr>
              <a:t>Armantrading</a:t>
            </a:r>
            <a:r>
              <a:rPr lang="en-US" sz="1050">
                <a:solidFill>
                  <a:srgbClr val="7C8792"/>
                </a:solidFill>
                <a:latin typeface="Menlo"/>
              </a:rPr>
              <a:t>, Tyler Ervin, Mustafa Akilli, Christian King</a:t>
            </a:r>
            <a:endParaRPr lang="en-US"/>
          </a:p>
        </p:txBody>
      </p:sp>
    </p:spTree>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bg_data.jpg"/>
          <p:cNvPicPr>
            <a:picLocks noChangeAspect="1"/>
          </p:cNvPicPr>
          <p:nvPr/>
        </p:nvPicPr>
        <p:blipFill>
          <a:blip r:embed="rId3"/>
          <a:stretch>
            <a:fillRect/>
          </a:stretch>
        </p:blipFill>
        <p:spPr>
          <a:xfrm>
            <a:off x="0" y="0"/>
            <a:ext cx="12191695" cy="6858000"/>
          </a:xfrm>
          <a:prstGeom prst="rect">
            <a:avLst/>
          </a:prstGeom>
        </p:spPr>
      </p:pic>
      <p:sp>
        <p:nvSpPr>
          <p:cNvPr id="4" name="Rectangle 3"/>
          <p:cNvSpPr/>
          <p:nvPr/>
        </p:nvSpPr>
        <p:spPr>
          <a:xfrm>
            <a:off x="0" y="-352872"/>
            <a:ext cx="12191695" cy="6858000"/>
          </a:xfrm>
          <a:prstGeom prst="rect">
            <a:avLst/>
          </a:prstGeom>
          <a:solidFill>
            <a:srgbClr val="07090C">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667512"/>
            <a:ext cx="10424160" cy="228600"/>
          </a:xfrm>
          <a:prstGeom prst="rect">
            <a:avLst/>
          </a:prstGeom>
          <a:noFill/>
        </p:spPr>
        <p:txBody>
          <a:bodyPr wrap="square" lIns="0" tIns="0" rIns="0" bIns="0" anchor="ctr">
            <a:spAutoFit/>
          </a:bodyPr>
          <a:lstStyle/>
          <a:p>
            <a:pPr algn="l">
              <a:lnSpc>
                <a:spcPct val="100000"/>
              </a:lnSpc>
              <a:spcBef>
                <a:spcPts val="0"/>
              </a:spcBef>
              <a:spcAft>
                <a:spcPts val="0"/>
              </a:spcAft>
            </a:pPr>
            <a:r>
              <a:rPr sz="1350" b="1">
                <a:solidFill>
                  <a:srgbClr val="FFA623"/>
                </a:solidFill>
                <a:latin typeface="Aptos"/>
              </a:rPr>
              <a:t>THE PROBLEM  ·  USDA FARM SERVICE AGENCY</a:t>
            </a:r>
          </a:p>
        </p:txBody>
      </p:sp>
      <p:sp>
        <p:nvSpPr>
          <p:cNvPr id="6" name="TextBox 5"/>
          <p:cNvSpPr txBox="1"/>
          <p:nvPr/>
        </p:nvSpPr>
        <p:spPr>
          <a:xfrm>
            <a:off x="868680" y="1024128"/>
            <a:ext cx="10698480" cy="594360"/>
          </a:xfrm>
          <a:prstGeom prst="rect">
            <a:avLst/>
          </a:prstGeom>
          <a:noFill/>
        </p:spPr>
        <p:txBody>
          <a:bodyPr wrap="square" lIns="0" tIns="0" rIns="0" bIns="0" anchor="ctr">
            <a:spAutoFit/>
          </a:bodyPr>
          <a:lstStyle/>
          <a:p>
            <a:pPr algn="l">
              <a:lnSpc>
                <a:spcPct val="100000"/>
              </a:lnSpc>
              <a:spcBef>
                <a:spcPts val="0"/>
              </a:spcBef>
              <a:spcAft>
                <a:spcPts val="0"/>
              </a:spcAft>
            </a:pPr>
            <a:r>
              <a:rPr sz="3400" b="1">
                <a:solidFill>
                  <a:srgbClr val="F2F2F0"/>
                </a:solidFill>
                <a:latin typeface="Aptos"/>
              </a:rPr>
              <a:t>Drought eligibility is not a loss forecast.</a:t>
            </a:r>
          </a:p>
        </p:txBody>
      </p:sp>
      <p:sp>
        <p:nvSpPr>
          <p:cNvPr id="7" name="TextBox 6"/>
          <p:cNvSpPr txBox="1"/>
          <p:nvPr/>
        </p:nvSpPr>
        <p:spPr>
          <a:xfrm>
            <a:off x="868680" y="1917783"/>
            <a:ext cx="10515600" cy="507831"/>
          </a:xfrm>
          <a:prstGeom prst="rect">
            <a:avLst/>
          </a:prstGeom>
          <a:noFill/>
        </p:spPr>
        <p:txBody>
          <a:bodyPr wrap="square" lIns="0" tIns="0" rIns="0" bIns="0" anchor="ctr">
            <a:spAutoFit/>
          </a:bodyPr>
          <a:lstStyle/>
          <a:p>
            <a:r>
              <a:rPr sz="1650" b="0" dirty="0">
                <a:solidFill>
                  <a:srgbClr val="B2BAC3"/>
                </a:solidFill>
                <a:latin typeface="Aptos"/>
              </a:rPr>
              <a:t>USDA Farm Service Agency (FSA) state offices have drought eligibility </a:t>
            </a:r>
            <a:r>
              <a:rPr lang="en-US" sz="1650" dirty="0">
                <a:solidFill>
                  <a:srgbClr val="B2BAC3"/>
                </a:solidFill>
                <a:latin typeface="Aptos"/>
              </a:rPr>
              <a:t>indicators, but</a:t>
            </a:r>
            <a:r>
              <a:rPr sz="1650" b="0" dirty="0">
                <a:solidFill>
                  <a:srgbClr val="B2BAC3"/>
                </a:solidFill>
                <a:latin typeface="Aptos"/>
              </a:rPr>
              <a:t> need an early ranking of where crop losses will concentrate before final insurance results arrive.</a:t>
            </a:r>
          </a:p>
        </p:txBody>
      </p:sp>
      <p:sp>
        <p:nvSpPr>
          <p:cNvPr id="12" name="Rectangle 11"/>
          <p:cNvSpPr/>
          <p:nvPr/>
        </p:nvSpPr>
        <p:spPr>
          <a:xfrm>
            <a:off x="848224" y="2749276"/>
            <a:ext cx="3794760" cy="2057400"/>
          </a:xfrm>
          <a:prstGeom prst="rect">
            <a:avLst/>
          </a:prstGeom>
          <a:solidFill>
            <a:srgbClr val="141B21"/>
          </a:solidFill>
          <a:ln w="8255">
            <a:solidFill>
              <a:srgbClr val="3B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48224" y="2749276"/>
            <a:ext cx="50292" cy="2057400"/>
          </a:xfrm>
          <a:prstGeom prst="rect">
            <a:avLst/>
          </a:prstGeom>
          <a:solidFill>
            <a:srgbClr val="FF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22544" y="3005308"/>
            <a:ext cx="3291840" cy="228600"/>
          </a:xfrm>
          <a:prstGeom prst="rect">
            <a:avLst/>
          </a:prstGeom>
          <a:noFill/>
        </p:spPr>
        <p:txBody>
          <a:bodyPr wrap="square" lIns="0" tIns="0" rIns="0" bIns="0" anchor="ctr">
            <a:spAutoFit/>
          </a:bodyPr>
          <a:lstStyle/>
          <a:p>
            <a:pPr algn="l">
              <a:lnSpc>
                <a:spcPct val="100000"/>
              </a:lnSpc>
              <a:spcBef>
                <a:spcPts val="0"/>
              </a:spcBef>
              <a:spcAft>
                <a:spcPts val="0"/>
              </a:spcAft>
            </a:pPr>
            <a:r>
              <a:rPr sz="1210" b="1">
                <a:solidFill>
                  <a:srgbClr val="FFA623"/>
                </a:solidFill>
                <a:latin typeface="Aptos"/>
              </a:rPr>
              <a:t>WHAT USDA ALREADY HAS</a:t>
            </a:r>
          </a:p>
        </p:txBody>
      </p:sp>
      <p:sp>
        <p:nvSpPr>
          <p:cNvPr id="15" name="TextBox 14"/>
          <p:cNvSpPr txBox="1"/>
          <p:nvPr/>
        </p:nvSpPr>
        <p:spPr>
          <a:xfrm>
            <a:off x="1122544" y="3453364"/>
            <a:ext cx="3182112" cy="438912"/>
          </a:xfrm>
          <a:prstGeom prst="rect">
            <a:avLst/>
          </a:prstGeom>
          <a:noFill/>
        </p:spPr>
        <p:txBody>
          <a:bodyPr wrap="square" lIns="0" tIns="0" rIns="0" bIns="0" anchor="ctr">
            <a:spAutoFit/>
          </a:bodyPr>
          <a:lstStyle/>
          <a:p>
            <a:pPr algn="l">
              <a:lnSpc>
                <a:spcPct val="100000"/>
              </a:lnSpc>
              <a:spcBef>
                <a:spcPts val="0"/>
              </a:spcBef>
              <a:spcAft>
                <a:spcPts val="0"/>
              </a:spcAft>
            </a:pPr>
            <a:r>
              <a:rPr sz="2350" b="1">
                <a:solidFill>
                  <a:srgbClr val="F2F2F0"/>
                </a:solidFill>
                <a:latin typeface="Aptos"/>
              </a:rPr>
              <a:t>Drought indicators</a:t>
            </a:r>
          </a:p>
        </p:txBody>
      </p:sp>
      <p:sp>
        <p:nvSpPr>
          <p:cNvPr id="16" name="TextBox 15"/>
          <p:cNvSpPr txBox="1"/>
          <p:nvPr/>
        </p:nvSpPr>
        <p:spPr>
          <a:xfrm>
            <a:off x="1122544" y="4029436"/>
            <a:ext cx="3172968" cy="484632"/>
          </a:xfrm>
          <a:prstGeom prst="rect">
            <a:avLst/>
          </a:prstGeom>
          <a:noFill/>
        </p:spPr>
        <p:txBody>
          <a:bodyPr wrap="square" lIns="0" tIns="0" rIns="0" bIns="0" anchor="ctr">
            <a:spAutoFit/>
          </a:bodyPr>
          <a:lstStyle/>
          <a:p>
            <a:pPr algn="l">
              <a:lnSpc>
                <a:spcPct val="100000"/>
              </a:lnSpc>
              <a:spcBef>
                <a:spcPts val="0"/>
              </a:spcBef>
              <a:spcAft>
                <a:spcPts val="0"/>
              </a:spcAft>
            </a:pPr>
            <a:r>
              <a:rPr sz="1450" b="0">
                <a:solidFill>
                  <a:srgbClr val="B2BAC3"/>
                </a:solidFill>
                <a:latin typeface="Aptos"/>
              </a:rPr>
              <a:t>Support eligibility decisions.</a:t>
            </a:r>
          </a:p>
          <a:p>
            <a:pPr algn="l">
              <a:lnSpc>
                <a:spcPct val="100000"/>
              </a:lnSpc>
              <a:spcBef>
                <a:spcPts val="0"/>
              </a:spcBef>
              <a:spcAft>
                <a:spcPts val="0"/>
              </a:spcAft>
            </a:pPr>
            <a:r>
              <a:rPr sz="1450" b="0">
                <a:solidFill>
                  <a:srgbClr val="B2BAC3"/>
                </a:solidFill>
                <a:latin typeface="Aptos"/>
              </a:rPr>
              <a:t>Do not rank expected county losses.</a:t>
            </a:r>
          </a:p>
        </p:txBody>
      </p:sp>
      <p:sp>
        <p:nvSpPr>
          <p:cNvPr id="17" name="Rectangle 16"/>
          <p:cNvSpPr/>
          <p:nvPr/>
        </p:nvSpPr>
        <p:spPr>
          <a:xfrm>
            <a:off x="5017888" y="2749276"/>
            <a:ext cx="6300216" cy="2057400"/>
          </a:xfrm>
          <a:prstGeom prst="rect">
            <a:avLst/>
          </a:prstGeom>
          <a:solidFill>
            <a:srgbClr val="141B21"/>
          </a:solidFill>
          <a:ln w="8255">
            <a:solidFill>
              <a:srgbClr val="3B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017888" y="2749276"/>
            <a:ext cx="50292" cy="2057400"/>
          </a:xfrm>
          <a:prstGeom prst="rect">
            <a:avLst/>
          </a:prstGeom>
          <a:solidFill>
            <a:srgbClr val="FF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292208" y="3005308"/>
            <a:ext cx="5669280" cy="228600"/>
          </a:xfrm>
          <a:prstGeom prst="rect">
            <a:avLst/>
          </a:prstGeom>
          <a:noFill/>
        </p:spPr>
        <p:txBody>
          <a:bodyPr wrap="square" lIns="0" tIns="0" rIns="0" bIns="0" anchor="ctr">
            <a:spAutoFit/>
          </a:bodyPr>
          <a:lstStyle/>
          <a:p>
            <a:pPr algn="l">
              <a:lnSpc>
                <a:spcPct val="100000"/>
              </a:lnSpc>
              <a:spcBef>
                <a:spcPts val="0"/>
              </a:spcBef>
              <a:spcAft>
                <a:spcPts val="0"/>
              </a:spcAft>
            </a:pPr>
            <a:r>
              <a:rPr sz="1210" b="1">
                <a:solidFill>
                  <a:srgbClr val="FFA623"/>
                </a:solidFill>
                <a:latin typeface="Aptos"/>
              </a:rPr>
              <a:t>WHAT FSA DISASTER RELIEF OFFICES NEED</a:t>
            </a:r>
          </a:p>
        </p:txBody>
      </p:sp>
      <p:sp>
        <p:nvSpPr>
          <p:cNvPr id="20" name="TextBox 19"/>
          <p:cNvSpPr txBox="1"/>
          <p:nvPr/>
        </p:nvSpPr>
        <p:spPr>
          <a:xfrm>
            <a:off x="5319640" y="3425932"/>
            <a:ext cx="420624" cy="283464"/>
          </a:xfrm>
          <a:prstGeom prst="rect">
            <a:avLst/>
          </a:prstGeom>
          <a:noFill/>
        </p:spPr>
        <p:txBody>
          <a:bodyPr wrap="square" lIns="0" tIns="0" rIns="0" bIns="0" anchor="ctr">
            <a:spAutoFit/>
          </a:bodyPr>
          <a:lstStyle/>
          <a:p>
            <a:pPr algn="l">
              <a:lnSpc>
                <a:spcPct val="100000"/>
              </a:lnSpc>
              <a:spcBef>
                <a:spcPts val="0"/>
              </a:spcBef>
              <a:spcAft>
                <a:spcPts val="0"/>
              </a:spcAft>
            </a:pPr>
            <a:r>
              <a:rPr sz="1400" b="1">
                <a:solidFill>
                  <a:srgbClr val="FFA623"/>
                </a:solidFill>
                <a:latin typeface="Aptos"/>
              </a:rPr>
              <a:t>01</a:t>
            </a:r>
          </a:p>
        </p:txBody>
      </p:sp>
      <p:sp>
        <p:nvSpPr>
          <p:cNvPr id="21" name="TextBox 20"/>
          <p:cNvSpPr txBox="1"/>
          <p:nvPr/>
        </p:nvSpPr>
        <p:spPr>
          <a:xfrm>
            <a:off x="5795128" y="3393928"/>
            <a:ext cx="5212080" cy="347472"/>
          </a:xfrm>
          <a:prstGeom prst="rect">
            <a:avLst/>
          </a:prstGeom>
          <a:noFill/>
        </p:spPr>
        <p:txBody>
          <a:bodyPr wrap="square" lIns="0" tIns="0" rIns="0" bIns="0" anchor="ctr">
            <a:spAutoFit/>
          </a:bodyPr>
          <a:lstStyle/>
          <a:p>
            <a:pPr algn="l">
              <a:lnSpc>
                <a:spcPct val="100000"/>
              </a:lnSpc>
              <a:spcBef>
                <a:spcPts val="0"/>
              </a:spcBef>
              <a:spcAft>
                <a:spcPts val="0"/>
              </a:spcAft>
            </a:pPr>
            <a:r>
              <a:rPr sz="1800" b="1">
                <a:solidFill>
                  <a:srgbClr val="F2F2F0"/>
                </a:solidFill>
                <a:latin typeface="Aptos"/>
              </a:rPr>
              <a:t>Which counties face the greatest losses?</a:t>
            </a:r>
          </a:p>
        </p:txBody>
      </p:sp>
      <p:sp>
        <p:nvSpPr>
          <p:cNvPr id="22" name="TextBox 21"/>
          <p:cNvSpPr txBox="1"/>
          <p:nvPr/>
        </p:nvSpPr>
        <p:spPr>
          <a:xfrm>
            <a:off x="5319640" y="3873988"/>
            <a:ext cx="420624" cy="283464"/>
          </a:xfrm>
          <a:prstGeom prst="rect">
            <a:avLst/>
          </a:prstGeom>
          <a:noFill/>
        </p:spPr>
        <p:txBody>
          <a:bodyPr wrap="square" lIns="0" tIns="0" rIns="0" bIns="0" anchor="ctr">
            <a:spAutoFit/>
          </a:bodyPr>
          <a:lstStyle/>
          <a:p>
            <a:pPr algn="l">
              <a:lnSpc>
                <a:spcPct val="100000"/>
              </a:lnSpc>
              <a:spcBef>
                <a:spcPts val="0"/>
              </a:spcBef>
              <a:spcAft>
                <a:spcPts val="0"/>
              </a:spcAft>
            </a:pPr>
            <a:r>
              <a:rPr sz="1400" b="1">
                <a:solidFill>
                  <a:srgbClr val="FFA623"/>
                </a:solidFill>
                <a:latin typeface="Aptos"/>
              </a:rPr>
              <a:t>02</a:t>
            </a:r>
          </a:p>
        </p:txBody>
      </p:sp>
      <p:sp>
        <p:nvSpPr>
          <p:cNvPr id="23" name="TextBox 22"/>
          <p:cNvSpPr txBox="1"/>
          <p:nvPr/>
        </p:nvSpPr>
        <p:spPr>
          <a:xfrm>
            <a:off x="5795128" y="3841984"/>
            <a:ext cx="5212080" cy="347472"/>
          </a:xfrm>
          <a:prstGeom prst="rect">
            <a:avLst/>
          </a:prstGeom>
          <a:noFill/>
        </p:spPr>
        <p:txBody>
          <a:bodyPr wrap="square" lIns="0" tIns="0" rIns="0" bIns="0" anchor="ctr">
            <a:spAutoFit/>
          </a:bodyPr>
          <a:lstStyle/>
          <a:p>
            <a:pPr algn="l">
              <a:lnSpc>
                <a:spcPct val="100000"/>
              </a:lnSpc>
              <a:spcBef>
                <a:spcPts val="0"/>
              </a:spcBef>
              <a:spcAft>
                <a:spcPts val="0"/>
              </a:spcAft>
            </a:pPr>
            <a:r>
              <a:rPr sz="1800" b="1" dirty="0">
                <a:solidFill>
                  <a:srgbClr val="F2F2F0"/>
                </a:solidFill>
                <a:latin typeface="Aptos"/>
              </a:rPr>
              <a:t>Where are losses emerging below D2?</a:t>
            </a:r>
          </a:p>
        </p:txBody>
      </p:sp>
      <p:sp>
        <p:nvSpPr>
          <p:cNvPr id="24" name="TextBox 23"/>
          <p:cNvSpPr txBox="1"/>
          <p:nvPr/>
        </p:nvSpPr>
        <p:spPr>
          <a:xfrm>
            <a:off x="5319640" y="4322044"/>
            <a:ext cx="420624" cy="283464"/>
          </a:xfrm>
          <a:prstGeom prst="rect">
            <a:avLst/>
          </a:prstGeom>
          <a:noFill/>
        </p:spPr>
        <p:txBody>
          <a:bodyPr wrap="square" lIns="0" tIns="0" rIns="0" bIns="0" anchor="ctr">
            <a:spAutoFit/>
          </a:bodyPr>
          <a:lstStyle/>
          <a:p>
            <a:pPr algn="l">
              <a:lnSpc>
                <a:spcPct val="100000"/>
              </a:lnSpc>
              <a:spcBef>
                <a:spcPts val="0"/>
              </a:spcBef>
              <a:spcAft>
                <a:spcPts val="0"/>
              </a:spcAft>
            </a:pPr>
            <a:r>
              <a:rPr sz="1400" b="1">
                <a:solidFill>
                  <a:srgbClr val="FFA623"/>
                </a:solidFill>
                <a:latin typeface="Aptos"/>
              </a:rPr>
              <a:t>03</a:t>
            </a:r>
          </a:p>
        </p:txBody>
      </p:sp>
      <p:sp>
        <p:nvSpPr>
          <p:cNvPr id="25" name="TextBox 24"/>
          <p:cNvSpPr txBox="1"/>
          <p:nvPr/>
        </p:nvSpPr>
        <p:spPr>
          <a:xfrm>
            <a:off x="5795128" y="4290040"/>
            <a:ext cx="5212080" cy="347472"/>
          </a:xfrm>
          <a:prstGeom prst="rect">
            <a:avLst/>
          </a:prstGeom>
          <a:noFill/>
        </p:spPr>
        <p:txBody>
          <a:bodyPr wrap="square" lIns="0" tIns="0" rIns="0" bIns="0" anchor="ctr">
            <a:spAutoFit/>
          </a:bodyPr>
          <a:lstStyle/>
          <a:p>
            <a:pPr algn="l">
              <a:lnSpc>
                <a:spcPct val="100000"/>
              </a:lnSpc>
              <a:spcBef>
                <a:spcPts val="0"/>
              </a:spcBef>
              <a:spcAft>
                <a:spcPts val="0"/>
              </a:spcAft>
            </a:pPr>
            <a:r>
              <a:rPr sz="1800" b="1">
                <a:solidFill>
                  <a:srgbClr val="F2F2F0"/>
                </a:solidFill>
                <a:latin typeface="Aptos"/>
              </a:rPr>
              <a:t>Which counties need outreach first?</a:t>
            </a:r>
          </a:p>
        </p:txBody>
      </p:sp>
      <p:sp>
        <p:nvSpPr>
          <p:cNvPr id="26" name="Rectangle 25"/>
          <p:cNvSpPr/>
          <p:nvPr/>
        </p:nvSpPr>
        <p:spPr>
          <a:xfrm>
            <a:off x="868680" y="5170104"/>
            <a:ext cx="10469880" cy="658368"/>
          </a:xfrm>
          <a:prstGeom prst="rect">
            <a:avLst/>
          </a:prstGeom>
          <a:solidFill>
            <a:srgbClr val="10171D"/>
          </a:solidFill>
          <a:ln w="8255">
            <a:solidFill>
              <a:srgbClr val="3B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106424" y="5371272"/>
            <a:ext cx="1371600" cy="246888"/>
          </a:xfrm>
          <a:prstGeom prst="rect">
            <a:avLst/>
          </a:prstGeom>
          <a:noFill/>
        </p:spPr>
        <p:txBody>
          <a:bodyPr wrap="square" lIns="0" tIns="0" rIns="0" bIns="0" anchor="ctr">
            <a:spAutoFit/>
          </a:bodyPr>
          <a:lstStyle/>
          <a:p>
            <a:pPr algn="l">
              <a:lnSpc>
                <a:spcPct val="100000"/>
              </a:lnSpc>
              <a:spcBef>
                <a:spcPts val="0"/>
              </a:spcBef>
              <a:spcAft>
                <a:spcPts val="0"/>
              </a:spcAft>
            </a:pPr>
            <a:r>
              <a:rPr sz="1280" b="1">
                <a:solidFill>
                  <a:srgbClr val="FFA623"/>
                </a:solidFill>
                <a:latin typeface="Aptos"/>
              </a:rPr>
              <a:t>THE GAP</a:t>
            </a:r>
          </a:p>
        </p:txBody>
      </p:sp>
      <p:sp>
        <p:nvSpPr>
          <p:cNvPr id="28" name="TextBox 27"/>
          <p:cNvSpPr txBox="1"/>
          <p:nvPr/>
        </p:nvSpPr>
        <p:spPr>
          <a:xfrm>
            <a:off x="2587752" y="5402884"/>
            <a:ext cx="8494776" cy="238527"/>
          </a:xfrm>
          <a:prstGeom prst="rect">
            <a:avLst/>
          </a:prstGeom>
          <a:noFill/>
        </p:spPr>
        <p:txBody>
          <a:bodyPr wrap="square" lIns="0" tIns="0" rIns="0" bIns="0" anchor="ctr">
            <a:spAutoFit/>
          </a:bodyPr>
          <a:lstStyle/>
          <a:p>
            <a:pPr algn="l">
              <a:lnSpc>
                <a:spcPct val="100000"/>
              </a:lnSpc>
              <a:spcBef>
                <a:spcPts val="0"/>
              </a:spcBef>
              <a:spcAft>
                <a:spcPts val="0"/>
              </a:spcAft>
            </a:pPr>
            <a:r>
              <a:rPr lang="en-US" sz="1550" b="0">
                <a:solidFill>
                  <a:srgbClr val="F2F2F0"/>
                </a:solidFill>
                <a:latin typeface="Aptos"/>
              </a:rPr>
              <a:t>No </a:t>
            </a:r>
            <a:r>
              <a:rPr lang="en-US" sz="1550">
                <a:solidFill>
                  <a:srgbClr val="F2F2F0"/>
                </a:solidFill>
                <a:latin typeface="Aptos"/>
              </a:rPr>
              <a:t>tested</a:t>
            </a:r>
            <a:r>
              <a:rPr lang="en-US" sz="1550" b="0">
                <a:solidFill>
                  <a:srgbClr val="F2F2F0"/>
                </a:solidFill>
                <a:latin typeface="Aptos"/>
              </a:rPr>
              <a:t> forecast to prioritize where losses will hit hardest.</a:t>
            </a:r>
          </a:p>
        </p:txBody>
      </p:sp>
      <p:sp>
        <p:nvSpPr>
          <p:cNvPr id="29" name="TextBox 28"/>
          <p:cNvSpPr txBox="1"/>
          <p:nvPr/>
        </p:nvSpPr>
        <p:spPr>
          <a:xfrm>
            <a:off x="869907" y="6357309"/>
            <a:ext cx="10332720" cy="169277"/>
          </a:xfrm>
          <a:prstGeom prst="rect">
            <a:avLst/>
          </a:prstGeom>
          <a:noFill/>
        </p:spPr>
        <p:txBody>
          <a:bodyPr wrap="square" lIns="0" tIns="0" rIns="0" bIns="0" anchor="ctr">
            <a:spAutoFit/>
          </a:bodyPr>
          <a:lstStyle/>
          <a:p>
            <a:pPr algn="l">
              <a:lnSpc>
                <a:spcPct val="100000"/>
              </a:lnSpc>
              <a:spcBef>
                <a:spcPts val="0"/>
              </a:spcBef>
              <a:spcAft>
                <a:spcPts val="0"/>
              </a:spcAft>
            </a:pPr>
            <a:r>
              <a:rPr sz="1100" b="0" dirty="0">
                <a:solidFill>
                  <a:srgbClr val="87939C"/>
                </a:solidFill>
                <a:latin typeface="Aptos"/>
              </a:rPr>
              <a:t>IOWA + NEBRASKA  ·  CORN + SOYBEANS  ·  INSURED ACRES </a:t>
            </a:r>
          </a:p>
        </p:txBody>
      </p:sp>
    </p:spTree>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bg_validation.jpg"/>
          <p:cNvPicPr>
            <a:picLocks noChangeAspect="1"/>
          </p:cNvPicPr>
          <p:nvPr/>
        </p:nvPicPr>
        <p:blipFill>
          <a:blip r:embed="rId3"/>
          <a:stretch>
            <a:fillRect/>
          </a:stretch>
        </p:blipFill>
        <p:spPr>
          <a:xfrm>
            <a:off x="0" y="0"/>
            <a:ext cx="12191695" cy="6858000"/>
          </a:xfrm>
          <a:prstGeom prst="rect">
            <a:avLst/>
          </a:prstGeom>
        </p:spPr>
      </p:pic>
      <p:sp>
        <p:nvSpPr>
          <p:cNvPr id="4" name="Rectangle 3"/>
          <p:cNvSpPr/>
          <p:nvPr/>
        </p:nvSpPr>
        <p:spPr>
          <a:xfrm>
            <a:off x="0" y="54864"/>
            <a:ext cx="12191695" cy="6858000"/>
          </a:xfrm>
          <a:prstGeom prst="rect">
            <a:avLst/>
          </a:prstGeom>
          <a:solidFill>
            <a:srgbClr val="07090C">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extBox 5"/>
          <p:cNvSpPr txBox="1"/>
          <p:nvPr/>
        </p:nvSpPr>
        <p:spPr>
          <a:xfrm>
            <a:off x="1417320" y="306832"/>
            <a:ext cx="9052560" cy="1060098"/>
          </a:xfrm>
          <a:prstGeom prst="rect">
            <a:avLst/>
          </a:prstGeom>
          <a:noFill/>
        </p:spPr>
        <p:txBody>
          <a:bodyPr wrap="square" lIns="0" tIns="0" rIns="0" bIns="0" anchor="t">
            <a:spAutoFit/>
          </a:bodyPr>
          <a:lstStyle/>
          <a:p>
            <a:pPr algn="ctr">
              <a:lnSpc>
                <a:spcPct val="104000"/>
              </a:lnSpc>
            </a:pPr>
            <a:r>
              <a:rPr sz="3400" b="1" dirty="0">
                <a:solidFill>
                  <a:srgbClr val="F6F2EA"/>
                </a:solidFill>
                <a:latin typeface="Avenir Next"/>
              </a:rPr>
              <a:t>Trained on 200</a:t>
            </a:r>
            <a:r>
              <a:rPr lang="en-US" sz="3400" b="1" dirty="0">
                <a:solidFill>
                  <a:srgbClr val="F6F2EA"/>
                </a:solidFill>
                <a:latin typeface="Avenir Next"/>
              </a:rPr>
              <a:t>0</a:t>
            </a:r>
            <a:r>
              <a:rPr sz="3400" b="1" dirty="0">
                <a:solidFill>
                  <a:srgbClr val="F6F2EA"/>
                </a:solidFill>
                <a:latin typeface="Avenir Next"/>
              </a:rPr>
              <a:t>-2015</a:t>
            </a:r>
            <a:endParaRPr lang="en-US" dirty="0"/>
          </a:p>
          <a:p>
            <a:pPr algn="ctr">
              <a:lnSpc>
                <a:spcPct val="104000"/>
              </a:lnSpc>
            </a:pPr>
            <a:r>
              <a:rPr sz="3400" b="1" dirty="0">
                <a:solidFill>
                  <a:srgbClr val="F6F2EA"/>
                </a:solidFill>
                <a:latin typeface="Avenir Next"/>
              </a:rPr>
              <a:t>Then tested on 2016-2025</a:t>
            </a:r>
          </a:p>
        </p:txBody>
      </p:sp>
      <p:sp>
        <p:nvSpPr>
          <p:cNvPr id="7" name="TextBox 6"/>
          <p:cNvSpPr txBox="1"/>
          <p:nvPr/>
        </p:nvSpPr>
        <p:spPr>
          <a:xfrm>
            <a:off x="1112520" y="1712976"/>
            <a:ext cx="9692640" cy="331116"/>
          </a:xfrm>
          <a:prstGeom prst="rect">
            <a:avLst/>
          </a:prstGeom>
          <a:noFill/>
        </p:spPr>
        <p:txBody>
          <a:bodyPr wrap="square" lIns="0" tIns="0" rIns="0" bIns="0" anchor="t">
            <a:spAutoFit/>
          </a:bodyPr>
          <a:lstStyle/>
          <a:p>
            <a:pPr algn="ctr">
              <a:lnSpc>
                <a:spcPct val="135000"/>
              </a:lnSpc>
            </a:pPr>
            <a:r>
              <a:rPr sz="1750" b="0">
                <a:solidFill>
                  <a:srgbClr val="B2BAC3"/>
                </a:solidFill>
                <a:latin typeface="Avenir Next"/>
              </a:rPr>
              <a:t>If you can only reach 20 counties first, </a:t>
            </a:r>
            <a:r>
              <a:rPr sz="1750" b="1">
                <a:solidFill>
                  <a:srgbClr val="F6F2EA"/>
                </a:solidFill>
                <a:latin typeface="Avenir Next"/>
              </a:rPr>
              <a:t>how much of the real drought payout do you cover?</a:t>
            </a:r>
            <a:endParaRPr lang="en-US"/>
          </a:p>
        </p:txBody>
      </p:sp>
      <p:sp>
        <p:nvSpPr>
          <p:cNvPr id="12" name="TextBox 11"/>
          <p:cNvSpPr txBox="1"/>
          <p:nvPr/>
        </p:nvSpPr>
        <p:spPr>
          <a:xfrm>
            <a:off x="868680" y="3566160"/>
            <a:ext cx="2788920" cy="365760"/>
          </a:xfrm>
          <a:prstGeom prst="rect">
            <a:avLst/>
          </a:prstGeom>
          <a:noFill/>
        </p:spPr>
        <p:txBody>
          <a:bodyPr wrap="square" lIns="0" tIns="0" rIns="0" bIns="0" anchor="t">
            <a:spAutoFit/>
          </a:bodyPr>
          <a:lstStyle/>
          <a:p>
            <a:pPr algn="r">
              <a:lnSpc>
                <a:spcPct val="125000"/>
              </a:lnSpc>
            </a:pPr>
            <a:r>
              <a:rPr sz="1450" b="0">
                <a:solidFill>
                  <a:srgbClr val="B2BAC3"/>
                </a:solidFill>
                <a:latin typeface="Avenir Next"/>
              </a:rPr>
              <a:t>USDA trigger</a:t>
            </a:r>
          </a:p>
        </p:txBody>
      </p:sp>
      <p:sp>
        <p:nvSpPr>
          <p:cNvPr id="13" name="Rectangle 12"/>
          <p:cNvSpPr/>
          <p:nvPr/>
        </p:nvSpPr>
        <p:spPr>
          <a:xfrm>
            <a:off x="3794760" y="3483864"/>
            <a:ext cx="6675120" cy="475488"/>
          </a:xfrm>
          <a:prstGeom prst="rect">
            <a:avLst/>
          </a:prstGeom>
          <a:solidFill>
            <a:srgbClr val="1B21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794760" y="3483864"/>
            <a:ext cx="1762231" cy="475488"/>
          </a:xfrm>
          <a:prstGeom prst="rect">
            <a:avLst/>
          </a:prstGeom>
          <a:solidFill>
            <a:srgbClr val="5B92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85007" y="3547872"/>
            <a:ext cx="1280160" cy="365760"/>
          </a:xfrm>
          <a:prstGeom prst="rect">
            <a:avLst/>
          </a:prstGeom>
          <a:noFill/>
        </p:spPr>
        <p:txBody>
          <a:bodyPr wrap="square" lIns="0" tIns="0" rIns="0" bIns="0" anchor="t">
            <a:spAutoFit/>
          </a:bodyPr>
          <a:lstStyle/>
          <a:p>
            <a:pPr algn="l">
              <a:lnSpc>
                <a:spcPct val="125000"/>
              </a:lnSpc>
            </a:pPr>
            <a:r>
              <a:rPr sz="1500" b="1">
                <a:solidFill>
                  <a:srgbClr val="5B92B3"/>
                </a:solidFill>
                <a:latin typeface="Menlo"/>
              </a:rPr>
              <a:t>26%</a:t>
            </a:r>
          </a:p>
        </p:txBody>
      </p:sp>
      <p:sp>
        <p:nvSpPr>
          <p:cNvPr id="16" name="TextBox 15"/>
          <p:cNvSpPr txBox="1"/>
          <p:nvPr/>
        </p:nvSpPr>
        <p:spPr>
          <a:xfrm>
            <a:off x="868680" y="4233672"/>
            <a:ext cx="2788920" cy="365760"/>
          </a:xfrm>
          <a:prstGeom prst="rect">
            <a:avLst/>
          </a:prstGeom>
          <a:noFill/>
        </p:spPr>
        <p:txBody>
          <a:bodyPr wrap="square" lIns="0" tIns="0" rIns="0" bIns="0" anchor="t">
            <a:spAutoFit/>
          </a:bodyPr>
          <a:lstStyle/>
          <a:p>
            <a:pPr algn="r">
              <a:lnSpc>
                <a:spcPct val="125000"/>
              </a:lnSpc>
            </a:pPr>
            <a:r>
              <a:rPr sz="1450" b="0">
                <a:solidFill>
                  <a:srgbClr val="B2BAC3"/>
                </a:solidFill>
                <a:latin typeface="Avenir Next"/>
              </a:rPr>
              <a:t>Simple drought-map formula</a:t>
            </a:r>
          </a:p>
        </p:txBody>
      </p:sp>
      <p:sp>
        <p:nvSpPr>
          <p:cNvPr id="17" name="Rectangle 16"/>
          <p:cNvSpPr/>
          <p:nvPr/>
        </p:nvSpPr>
        <p:spPr>
          <a:xfrm>
            <a:off x="3794760" y="4151376"/>
            <a:ext cx="6675120" cy="475488"/>
          </a:xfrm>
          <a:prstGeom prst="rect">
            <a:avLst/>
          </a:prstGeom>
          <a:solidFill>
            <a:srgbClr val="1B21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794760" y="4151376"/>
            <a:ext cx="2690073" cy="475488"/>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12849" y="4215384"/>
            <a:ext cx="1280160" cy="365760"/>
          </a:xfrm>
          <a:prstGeom prst="rect">
            <a:avLst/>
          </a:prstGeom>
          <a:noFill/>
        </p:spPr>
        <p:txBody>
          <a:bodyPr wrap="square" lIns="0" tIns="0" rIns="0" bIns="0" anchor="t">
            <a:spAutoFit/>
          </a:bodyPr>
          <a:lstStyle/>
          <a:p>
            <a:pPr algn="l">
              <a:lnSpc>
                <a:spcPct val="125000"/>
              </a:lnSpc>
            </a:pPr>
            <a:r>
              <a:rPr sz="1500" b="1">
                <a:solidFill>
                  <a:srgbClr val="E07B39"/>
                </a:solidFill>
                <a:latin typeface="Menlo"/>
              </a:rPr>
              <a:t>40%</a:t>
            </a:r>
          </a:p>
        </p:txBody>
      </p:sp>
      <p:sp>
        <p:nvSpPr>
          <p:cNvPr id="20" name="TextBox 19"/>
          <p:cNvSpPr txBox="1"/>
          <p:nvPr/>
        </p:nvSpPr>
        <p:spPr>
          <a:xfrm>
            <a:off x="868680" y="4901184"/>
            <a:ext cx="2788920" cy="365760"/>
          </a:xfrm>
          <a:prstGeom prst="rect">
            <a:avLst/>
          </a:prstGeom>
          <a:noFill/>
        </p:spPr>
        <p:txBody>
          <a:bodyPr wrap="square" lIns="0" tIns="0" rIns="0" bIns="0" anchor="t">
            <a:spAutoFit/>
          </a:bodyPr>
          <a:lstStyle/>
          <a:p>
            <a:pPr algn="r">
              <a:lnSpc>
                <a:spcPct val="125000"/>
              </a:lnSpc>
            </a:pPr>
            <a:r>
              <a:rPr sz="1450" b="1">
                <a:solidFill>
                  <a:srgbClr val="F6F2EA"/>
                </a:solidFill>
                <a:latin typeface="Avenir Next"/>
              </a:rPr>
              <a:t>Our model</a:t>
            </a:r>
          </a:p>
        </p:txBody>
      </p:sp>
      <p:sp>
        <p:nvSpPr>
          <p:cNvPr id="21" name="Rectangle 20"/>
          <p:cNvSpPr/>
          <p:nvPr/>
        </p:nvSpPr>
        <p:spPr>
          <a:xfrm>
            <a:off x="3794760" y="4818888"/>
            <a:ext cx="6675120" cy="475488"/>
          </a:xfrm>
          <a:prstGeom prst="rect">
            <a:avLst/>
          </a:prstGeom>
          <a:solidFill>
            <a:srgbClr val="1B21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794760" y="4818888"/>
            <a:ext cx="3631265" cy="475488"/>
          </a:xfrm>
          <a:prstGeom prst="rect">
            <a:avLst/>
          </a:prstGeom>
          <a:solidFill>
            <a:srgbClr val="F2A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554041" y="4882896"/>
            <a:ext cx="1280160" cy="365760"/>
          </a:xfrm>
          <a:prstGeom prst="rect">
            <a:avLst/>
          </a:prstGeom>
          <a:noFill/>
        </p:spPr>
        <p:txBody>
          <a:bodyPr wrap="square" lIns="0" tIns="0" rIns="0" bIns="0" anchor="t">
            <a:spAutoFit/>
          </a:bodyPr>
          <a:lstStyle/>
          <a:p>
            <a:pPr algn="l">
              <a:lnSpc>
                <a:spcPct val="125000"/>
              </a:lnSpc>
            </a:pPr>
            <a:r>
              <a:rPr sz="1700" b="1">
                <a:solidFill>
                  <a:srgbClr val="F2A33A"/>
                </a:solidFill>
                <a:latin typeface="Menlo"/>
              </a:rPr>
              <a:t>54%</a:t>
            </a:r>
          </a:p>
        </p:txBody>
      </p:sp>
      <p:sp>
        <p:nvSpPr>
          <p:cNvPr id="24" name="TextBox 23"/>
          <p:cNvSpPr txBox="1"/>
          <p:nvPr/>
        </p:nvSpPr>
        <p:spPr>
          <a:xfrm>
            <a:off x="868680" y="5568696"/>
            <a:ext cx="2788920" cy="365760"/>
          </a:xfrm>
          <a:prstGeom prst="rect">
            <a:avLst/>
          </a:prstGeom>
          <a:noFill/>
        </p:spPr>
        <p:txBody>
          <a:bodyPr wrap="square" lIns="0" tIns="0" rIns="0" bIns="0" anchor="t">
            <a:spAutoFit/>
          </a:bodyPr>
          <a:lstStyle/>
          <a:p>
            <a:pPr algn="r">
              <a:lnSpc>
                <a:spcPct val="125000"/>
              </a:lnSpc>
            </a:pPr>
            <a:r>
              <a:rPr sz="1450" b="0">
                <a:solidFill>
                  <a:srgbClr val="B2BAC3"/>
                </a:solidFill>
                <a:latin typeface="Avenir Next"/>
              </a:rPr>
              <a:t>Perfect hindsight</a:t>
            </a:r>
          </a:p>
        </p:txBody>
      </p:sp>
      <p:sp>
        <p:nvSpPr>
          <p:cNvPr id="25" name="Rectangle 24"/>
          <p:cNvSpPr/>
          <p:nvPr/>
        </p:nvSpPr>
        <p:spPr>
          <a:xfrm>
            <a:off x="3794760" y="5486400"/>
            <a:ext cx="6675120" cy="475488"/>
          </a:xfrm>
          <a:prstGeom prst="rect">
            <a:avLst/>
          </a:prstGeom>
          <a:solidFill>
            <a:srgbClr val="1B21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3794760" y="5486400"/>
            <a:ext cx="4866162" cy="475488"/>
          </a:xfrm>
          <a:prstGeom prst="rect">
            <a:avLst/>
          </a:prstGeom>
          <a:solidFill>
            <a:srgbClr val="4EA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788938" y="5550408"/>
            <a:ext cx="1280160" cy="365760"/>
          </a:xfrm>
          <a:prstGeom prst="rect">
            <a:avLst/>
          </a:prstGeom>
          <a:noFill/>
        </p:spPr>
        <p:txBody>
          <a:bodyPr wrap="square" lIns="0" tIns="0" rIns="0" bIns="0" anchor="t">
            <a:spAutoFit/>
          </a:bodyPr>
          <a:lstStyle/>
          <a:p>
            <a:pPr algn="l">
              <a:lnSpc>
                <a:spcPct val="125000"/>
              </a:lnSpc>
            </a:pPr>
            <a:r>
              <a:rPr sz="1500" b="1">
                <a:solidFill>
                  <a:srgbClr val="4EA885"/>
                </a:solidFill>
                <a:latin typeface="Menlo"/>
              </a:rPr>
              <a:t>73%</a:t>
            </a:r>
          </a:p>
        </p:txBody>
      </p:sp>
      <p:sp>
        <p:nvSpPr>
          <p:cNvPr id="30" name="TextBox 29">
            <a:extLst>
              <a:ext uri="{FF2B5EF4-FFF2-40B4-BE49-F238E27FC236}">
                <a16:creationId xmlns:a16="http://schemas.microsoft.com/office/drawing/2014/main" id="{6C0F64C8-2271-A5D5-9038-179FFA4869C0}"/>
              </a:ext>
            </a:extLst>
          </p:cNvPr>
          <p:cNvSpPr txBox="1"/>
          <p:nvPr/>
        </p:nvSpPr>
        <p:spPr>
          <a:xfrm>
            <a:off x="1855304" y="2385391"/>
            <a:ext cx="735495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solidFill>
                  <a:schemeClr val="bg1"/>
                </a:solidFill>
                <a:ea typeface="+mn-lt"/>
                <a:cs typeface="+mn-lt"/>
              </a:rPr>
              <a:t>Capture % = actual drought payouts in a method’s top 20 counties ÷ actual drought payouts in the whole state</a:t>
            </a:r>
            <a:endParaRPr lang="en-US" dirty="0"/>
          </a:p>
        </p:txBody>
      </p:sp>
      <p:sp>
        <p:nvSpPr>
          <p:cNvPr id="8" name="TextBox 7">
            <a:extLst>
              <a:ext uri="{FF2B5EF4-FFF2-40B4-BE49-F238E27FC236}">
                <a16:creationId xmlns:a16="http://schemas.microsoft.com/office/drawing/2014/main" id="{C87385E9-9BE4-B9C0-8C7A-0519DDDC3F31}"/>
              </a:ext>
            </a:extLst>
          </p:cNvPr>
          <p:cNvSpPr txBox="1"/>
          <p:nvPr/>
        </p:nvSpPr>
        <p:spPr>
          <a:xfrm>
            <a:off x="869907" y="6357309"/>
            <a:ext cx="10332720" cy="169277"/>
          </a:xfrm>
          <a:prstGeom prst="rect">
            <a:avLst/>
          </a:prstGeom>
          <a:noFill/>
        </p:spPr>
        <p:txBody>
          <a:bodyPr wrap="square" lIns="0" tIns="0" rIns="0" bIns="0" anchor="ctr">
            <a:spAutoFit/>
          </a:bodyPr>
          <a:lstStyle/>
          <a:p>
            <a:r>
              <a:rPr lang="en-US" sz="1100">
                <a:solidFill>
                  <a:srgbClr val="87939C"/>
                </a:solidFill>
                <a:latin typeface="Aptos"/>
              </a:rPr>
              <a:t>Missing values handled using the training median</a:t>
            </a:r>
            <a:endParaRPr lang="en-US"/>
          </a:p>
        </p:txBody>
      </p:sp>
    </p:spTree>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2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2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20"/>
                                        <p:tgtEl>
                                          <p:spTgt spid="18"/>
                                        </p:tgtEl>
                                      </p:cBhvr>
                                    </p:animEffect>
                                  </p:childTnLst>
                                </p:cTn>
                              </p:par>
                              <p:par>
                                <p:cTn id="16" presetID="10" presetClass="entr" presetSubtype="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2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520"/>
                                        <p:tgtEl>
                                          <p:spTgt spid="22"/>
                                        </p:tgtEl>
                                      </p:cBhvr>
                                    </p:animEffect>
                                  </p:childTnLst>
                                </p:cTn>
                              </p:par>
                              <p:par>
                                <p:cTn id="24" presetID="10" presetClass="entr" presetSubtype="0" fill="hold"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520"/>
                                        <p:tgtEl>
                                          <p:spTgt spid="2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20"/>
                                        <p:tgtEl>
                                          <p:spTgt spid="26"/>
                                        </p:tgtEl>
                                      </p:cBhvr>
                                    </p:animEffect>
                                  </p:childTnLst>
                                </p:cTn>
                              </p:par>
                              <p:par>
                                <p:cTn id="32" presetID="10" presetClass="entr" presetSubtype="0" fill="hold"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52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bg_data.jpg"/>
          <p:cNvPicPr>
            <a:picLocks noChangeAspect="1"/>
          </p:cNvPicPr>
          <p:nvPr/>
        </p:nvPicPr>
        <p:blipFill>
          <a:blip r:embed="rId3"/>
          <a:stretch>
            <a:fillRect/>
          </a:stretch>
        </p:blipFill>
        <p:spPr>
          <a:xfrm>
            <a:off x="0" y="0"/>
            <a:ext cx="12191695" cy="6858000"/>
          </a:xfrm>
          <a:prstGeom prst="rect">
            <a:avLst/>
          </a:prstGeom>
        </p:spPr>
      </p:pic>
      <p:sp>
        <p:nvSpPr>
          <p:cNvPr id="4" name="Rectangle 3"/>
          <p:cNvSpPr/>
          <p:nvPr/>
        </p:nvSpPr>
        <p:spPr>
          <a:xfrm>
            <a:off x="0" y="0"/>
            <a:ext cx="12191695" cy="6858000"/>
          </a:xfrm>
          <a:prstGeom prst="rect">
            <a:avLst/>
          </a:prstGeom>
          <a:solidFill>
            <a:srgbClr val="07090C">
              <a:alpha val="7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981047" y="2990386"/>
            <a:ext cx="8229600" cy="877228"/>
          </a:xfrm>
          <a:prstGeom prst="rect">
            <a:avLst/>
          </a:prstGeom>
          <a:noFill/>
        </p:spPr>
        <p:txBody>
          <a:bodyPr wrap="square" lIns="0" tIns="0" rIns="0" bIns="0" anchor="t">
            <a:spAutoFit/>
          </a:bodyPr>
          <a:lstStyle/>
          <a:p>
            <a:pPr algn="ctr">
              <a:lnSpc>
                <a:spcPct val="125000"/>
              </a:lnSpc>
            </a:pPr>
            <a:r>
              <a:rPr lang="en-US" sz="5000" b="1" cap="all" spc="240">
                <a:solidFill>
                  <a:srgbClr val="F2A33A"/>
                </a:solidFill>
                <a:latin typeface="Menlo"/>
              </a:rPr>
              <a:t>Live demo</a:t>
            </a:r>
          </a:p>
        </p:txBody>
      </p:sp>
    </p:spTree>
    <p:extLst>
      <p:ext uri="{BB962C8B-B14F-4D97-AF65-F5344CB8AC3E}">
        <p14:creationId xmlns:p14="http://schemas.microsoft.com/office/powerpoint/2010/main" val="3472279942"/>
      </p:ext>
    </p:extLst>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bg_close.jpg"/>
          <p:cNvPicPr>
            <a:picLocks noChangeAspect="1"/>
          </p:cNvPicPr>
          <p:nvPr/>
        </p:nvPicPr>
        <p:blipFill>
          <a:blip r:embed="rId3"/>
          <a:stretch>
            <a:fillRect/>
          </a:stretch>
        </p:blipFill>
        <p:spPr>
          <a:xfrm>
            <a:off x="0" y="0"/>
            <a:ext cx="12191695" cy="6858000"/>
          </a:xfrm>
          <a:prstGeom prst="rect">
            <a:avLst/>
          </a:prstGeom>
        </p:spPr>
      </p:pic>
      <p:sp>
        <p:nvSpPr>
          <p:cNvPr id="4" name="Rectangle 3"/>
          <p:cNvSpPr/>
          <p:nvPr/>
        </p:nvSpPr>
        <p:spPr>
          <a:xfrm>
            <a:off x="0" y="0"/>
            <a:ext cx="12191695" cy="6858000"/>
          </a:xfrm>
          <a:prstGeom prst="rect">
            <a:avLst/>
          </a:prstGeom>
          <a:solidFill>
            <a:srgbClr val="07090C">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658368"/>
            <a:ext cx="8229600" cy="201787"/>
          </a:xfrm>
          <a:prstGeom prst="rect">
            <a:avLst/>
          </a:prstGeom>
          <a:noFill/>
        </p:spPr>
        <p:txBody>
          <a:bodyPr wrap="square" lIns="0" tIns="0" rIns="0" bIns="0" anchor="t">
            <a:spAutoFit/>
          </a:bodyPr>
          <a:lstStyle/>
          <a:p>
            <a:pPr>
              <a:lnSpc>
                <a:spcPct val="125000"/>
              </a:lnSpc>
            </a:pPr>
            <a:r>
              <a:rPr sz="1150" b="1" cap="all" spc="240" dirty="0">
                <a:solidFill>
                  <a:srgbClr val="F2A33A"/>
                </a:solidFill>
                <a:latin typeface="Menlo"/>
              </a:rPr>
              <a:t>Team </a:t>
            </a:r>
            <a:r>
              <a:rPr lang="en-US" sz="1150" b="1" cap="all" spc="240" dirty="0" err="1">
                <a:solidFill>
                  <a:srgbClr val="F2A33A"/>
                </a:solidFill>
                <a:latin typeface="Menlo"/>
              </a:rPr>
              <a:t>HARvest</a:t>
            </a:r>
            <a:r>
              <a:rPr sz="1150" b="1" cap="all" spc="240" dirty="0">
                <a:solidFill>
                  <a:srgbClr val="F2A33A"/>
                </a:solidFill>
                <a:latin typeface="Menlo"/>
              </a:rPr>
              <a:t>  ·  credits and disclosure</a:t>
            </a:r>
          </a:p>
        </p:txBody>
      </p:sp>
      <p:sp>
        <p:nvSpPr>
          <p:cNvPr id="6" name="TextBox 5"/>
          <p:cNvSpPr txBox="1"/>
          <p:nvPr/>
        </p:nvSpPr>
        <p:spPr>
          <a:xfrm>
            <a:off x="868680" y="1005840"/>
            <a:ext cx="8778240" cy="552395"/>
          </a:xfrm>
          <a:prstGeom prst="rect">
            <a:avLst/>
          </a:prstGeom>
          <a:noFill/>
        </p:spPr>
        <p:txBody>
          <a:bodyPr wrap="square" lIns="0" tIns="0" rIns="0" bIns="0" anchor="t">
            <a:spAutoFit/>
          </a:bodyPr>
          <a:lstStyle/>
          <a:p>
            <a:pPr>
              <a:lnSpc>
                <a:spcPct val="104000"/>
              </a:lnSpc>
            </a:pPr>
            <a:r>
              <a:rPr lang="en-US" sz="3600" b="1" dirty="0">
                <a:solidFill>
                  <a:srgbClr val="F6F2EA"/>
                </a:solidFill>
                <a:latin typeface="Avenir Next"/>
              </a:rPr>
              <a:t>Credits and AI Disclosure</a:t>
            </a:r>
          </a:p>
        </p:txBody>
      </p:sp>
      <p:sp>
        <p:nvSpPr>
          <p:cNvPr id="10" name="TextBox 9"/>
          <p:cNvSpPr txBox="1"/>
          <p:nvPr/>
        </p:nvSpPr>
        <p:spPr>
          <a:xfrm>
            <a:off x="899467" y="1716802"/>
            <a:ext cx="3566160" cy="445315"/>
          </a:xfrm>
          <a:prstGeom prst="rect">
            <a:avLst/>
          </a:prstGeom>
          <a:noFill/>
        </p:spPr>
        <p:txBody>
          <a:bodyPr wrap="square" lIns="0" tIns="0" rIns="0" bIns="0" anchor="t">
            <a:spAutoFit/>
          </a:bodyPr>
          <a:lstStyle/>
          <a:p>
            <a:pPr algn="l">
              <a:lnSpc>
                <a:spcPct val="125000"/>
              </a:lnSpc>
            </a:pPr>
            <a:r>
              <a:rPr sz="2500" b="1">
                <a:solidFill>
                  <a:srgbClr val="F2A33A"/>
                </a:solidFill>
                <a:latin typeface="Menlo"/>
              </a:rPr>
              <a:t>AI USE</a:t>
            </a:r>
            <a:endParaRPr lang="en-US" sz="2500" b="1">
              <a:solidFill>
                <a:srgbClr val="F2A33A"/>
              </a:solidFill>
              <a:latin typeface="Menlo"/>
            </a:endParaRPr>
          </a:p>
        </p:txBody>
      </p:sp>
      <p:sp>
        <p:nvSpPr>
          <p:cNvPr id="11" name="TextBox 10"/>
          <p:cNvSpPr txBox="1"/>
          <p:nvPr/>
        </p:nvSpPr>
        <p:spPr>
          <a:xfrm>
            <a:off x="899467" y="2355778"/>
            <a:ext cx="3566160" cy="4225965"/>
          </a:xfrm>
          <a:prstGeom prst="rect">
            <a:avLst/>
          </a:prstGeom>
          <a:noFill/>
        </p:spPr>
        <p:txBody>
          <a:bodyPr wrap="square" lIns="0" tIns="0" rIns="0" bIns="0" anchor="t">
            <a:spAutoFit/>
          </a:bodyPr>
          <a:lstStyle/>
          <a:p>
            <a:pPr marL="285750" indent="-285750">
              <a:lnSpc>
                <a:spcPct val="140000"/>
              </a:lnSpc>
              <a:buFont typeface="Arial"/>
              <a:buChar char="•"/>
            </a:pPr>
            <a:r>
              <a:rPr b="1">
                <a:solidFill>
                  <a:srgbClr val="B2BAC3"/>
                </a:solidFill>
                <a:latin typeface="Avenir Next"/>
              </a:rPr>
              <a:t>Claude</a:t>
            </a:r>
            <a:r>
              <a:rPr lang="en-US" b="1">
                <a:solidFill>
                  <a:srgbClr val="B2BAC3"/>
                </a:solidFill>
                <a:latin typeface="Avenir Next"/>
              </a:rPr>
              <a:t>: </a:t>
            </a:r>
            <a:r>
              <a:rPr lang="en-US">
                <a:solidFill>
                  <a:srgbClr val="B2BAC3"/>
                </a:solidFill>
                <a:latin typeface="Avenir Next"/>
                <a:ea typeface="+mn-lt"/>
                <a:cs typeface="+mn-lt"/>
              </a:rPr>
              <a:t>assisted with modeling, the 3D viewer, initial pages and styling</a:t>
            </a:r>
            <a:endParaRPr lang="en-US"/>
          </a:p>
          <a:p>
            <a:pPr>
              <a:lnSpc>
                <a:spcPct val="140000"/>
              </a:lnSpc>
            </a:pPr>
            <a:endParaRPr lang="en-US">
              <a:solidFill>
                <a:srgbClr val="B2BAC3"/>
              </a:solidFill>
              <a:latin typeface="Avenir Next"/>
            </a:endParaRPr>
          </a:p>
          <a:p>
            <a:pPr marL="285750" indent="-285750">
              <a:lnSpc>
                <a:spcPct val="140000"/>
              </a:lnSpc>
              <a:buFont typeface="Arial"/>
              <a:buChar char="•"/>
            </a:pPr>
            <a:r>
              <a:rPr lang="en-US" b="1">
                <a:solidFill>
                  <a:srgbClr val="B2BAC3"/>
                </a:solidFill>
                <a:latin typeface="Avenir Next"/>
              </a:rPr>
              <a:t>Codex</a:t>
            </a:r>
            <a:r>
              <a:rPr b="0">
                <a:solidFill>
                  <a:srgbClr val="B2BAC3"/>
                </a:solidFill>
                <a:latin typeface="Avenir Next"/>
              </a:rPr>
              <a:t>: </a:t>
            </a:r>
            <a:r>
              <a:rPr lang="en-US">
                <a:solidFill>
                  <a:srgbClr val="B2BAC3"/>
                </a:solidFill>
                <a:latin typeface="Avenir Next"/>
                <a:ea typeface="+mn-lt"/>
                <a:cs typeface="+mn-lt"/>
              </a:rPr>
              <a:t>assisted with repository organization, insurance integration, UI fixes, documentation and verification</a:t>
            </a:r>
            <a:r>
              <a:rPr lang="en-US">
                <a:solidFill>
                  <a:srgbClr val="B2BAC3"/>
                </a:solidFill>
                <a:latin typeface="Avenir Next"/>
              </a:rPr>
              <a:t>.</a:t>
            </a:r>
          </a:p>
          <a:p>
            <a:pPr marL="285750" indent="-285750">
              <a:lnSpc>
                <a:spcPct val="140000"/>
              </a:lnSpc>
              <a:buFont typeface="Arial"/>
              <a:buChar char="•"/>
            </a:pPr>
            <a:endParaRPr lang="en-US">
              <a:solidFill>
                <a:srgbClr val="B2BAC3"/>
              </a:solidFill>
              <a:latin typeface="Avenir Next"/>
            </a:endParaRPr>
          </a:p>
          <a:p>
            <a:pPr marL="285750" indent="-285750">
              <a:lnSpc>
                <a:spcPct val="140000"/>
              </a:lnSpc>
              <a:buFont typeface="Arial"/>
              <a:buChar char="•"/>
            </a:pPr>
            <a:endParaRPr lang="en-US">
              <a:solidFill>
                <a:srgbClr val="B2BAC3"/>
              </a:solidFill>
              <a:latin typeface="Avenir Next"/>
            </a:endParaRPr>
          </a:p>
        </p:txBody>
      </p:sp>
      <p:sp>
        <p:nvSpPr>
          <p:cNvPr id="12" name="TextBox 11"/>
          <p:cNvSpPr txBox="1"/>
          <p:nvPr/>
        </p:nvSpPr>
        <p:spPr>
          <a:xfrm>
            <a:off x="6529880" y="1716802"/>
            <a:ext cx="3200400" cy="445315"/>
          </a:xfrm>
          <a:prstGeom prst="rect">
            <a:avLst/>
          </a:prstGeom>
          <a:noFill/>
        </p:spPr>
        <p:txBody>
          <a:bodyPr wrap="square" lIns="0" tIns="0" rIns="0" bIns="0" anchor="t">
            <a:spAutoFit/>
          </a:bodyPr>
          <a:lstStyle/>
          <a:p>
            <a:pPr>
              <a:lnSpc>
                <a:spcPct val="125000"/>
              </a:lnSpc>
            </a:pPr>
            <a:r>
              <a:rPr lang="en-US" sz="2500" b="1">
                <a:solidFill>
                  <a:srgbClr val="F2A33A"/>
                </a:solidFill>
                <a:latin typeface="Menlo"/>
              </a:rPr>
              <a:t>DATA SOURCES</a:t>
            </a:r>
            <a:endParaRPr lang="en-US" sz="2500">
              <a:ea typeface="Calibri"/>
              <a:cs typeface="Calibri"/>
            </a:endParaRPr>
          </a:p>
        </p:txBody>
      </p:sp>
      <p:sp>
        <p:nvSpPr>
          <p:cNvPr id="13" name="TextBox 12"/>
          <p:cNvSpPr txBox="1"/>
          <p:nvPr/>
        </p:nvSpPr>
        <p:spPr>
          <a:xfrm>
            <a:off x="6529880" y="2268837"/>
            <a:ext cx="3200400" cy="2446247"/>
          </a:xfrm>
          <a:prstGeom prst="rect">
            <a:avLst/>
          </a:prstGeom>
          <a:noFill/>
        </p:spPr>
        <p:txBody>
          <a:bodyPr wrap="square" lIns="0" tIns="0" rIns="0" bIns="0" anchor="t">
            <a:spAutoFit/>
          </a:bodyPr>
          <a:lstStyle/>
          <a:p>
            <a:pPr marL="285750" indent="-285750" algn="l">
              <a:lnSpc>
                <a:spcPct val="150000"/>
              </a:lnSpc>
              <a:buFont typeface="Arial"/>
              <a:buChar char="•"/>
            </a:pPr>
            <a:r>
              <a:rPr b="0">
                <a:solidFill>
                  <a:srgbClr val="B2BAC3"/>
                </a:solidFill>
                <a:latin typeface="Avenir Next"/>
              </a:rPr>
              <a:t>U.S. Drought Monitor</a:t>
            </a:r>
            <a:endParaRPr lang="en-US" b="0">
              <a:solidFill>
                <a:srgbClr val="B2BAC3"/>
              </a:solidFill>
              <a:latin typeface="Avenir Next"/>
            </a:endParaRPr>
          </a:p>
          <a:p>
            <a:pPr marL="285750" indent="-285750" algn="l">
              <a:lnSpc>
                <a:spcPct val="150000"/>
              </a:lnSpc>
              <a:buFont typeface="Arial"/>
              <a:buChar char="•"/>
            </a:pPr>
            <a:r>
              <a:rPr b="0">
                <a:solidFill>
                  <a:srgbClr val="B2BAC3"/>
                </a:solidFill>
                <a:latin typeface="Avenir Next"/>
              </a:rPr>
              <a:t>NOAA weather records</a:t>
            </a:r>
          </a:p>
          <a:p>
            <a:pPr marL="285750" indent="-285750" algn="l">
              <a:lnSpc>
                <a:spcPct val="150000"/>
              </a:lnSpc>
              <a:buFont typeface="Arial"/>
              <a:buChar char="•"/>
            </a:pPr>
            <a:r>
              <a:rPr b="0">
                <a:solidFill>
                  <a:srgbClr val="B2BAC3"/>
                </a:solidFill>
                <a:latin typeface="Avenir Next"/>
              </a:rPr>
              <a:t>USDA soil data</a:t>
            </a:r>
          </a:p>
          <a:p>
            <a:pPr marL="285750" indent="-285750" algn="l">
              <a:lnSpc>
                <a:spcPct val="150000"/>
              </a:lnSpc>
              <a:buFont typeface="Arial"/>
              <a:buChar char="•"/>
            </a:pPr>
            <a:r>
              <a:rPr b="0">
                <a:solidFill>
                  <a:srgbClr val="B2BAC3"/>
                </a:solidFill>
                <a:latin typeface="Avenir Next"/>
              </a:rPr>
              <a:t>USDA NASS county yields</a:t>
            </a:r>
          </a:p>
          <a:p>
            <a:pPr marL="285750" indent="-285750" algn="l">
              <a:lnSpc>
                <a:spcPct val="150000"/>
              </a:lnSpc>
              <a:buFont typeface="Arial"/>
              <a:buChar char="•"/>
            </a:pPr>
            <a:r>
              <a:rPr b="0">
                <a:solidFill>
                  <a:srgbClr val="B2BAC3"/>
                </a:solidFill>
                <a:latin typeface="Avenir Next"/>
              </a:rPr>
              <a:t>USDA RMA crop insurance records</a:t>
            </a:r>
          </a:p>
        </p:txBody>
      </p:sp>
      <p:sp>
        <p:nvSpPr>
          <p:cNvPr id="14" name="TextBox 13"/>
          <p:cNvSpPr txBox="1"/>
          <p:nvPr/>
        </p:nvSpPr>
        <p:spPr>
          <a:xfrm>
            <a:off x="899365" y="6077487"/>
            <a:ext cx="10424160" cy="299184"/>
          </a:xfrm>
          <a:prstGeom prst="rect">
            <a:avLst/>
          </a:prstGeom>
          <a:noFill/>
        </p:spPr>
        <p:txBody>
          <a:bodyPr wrap="square" lIns="0" tIns="0" rIns="0" bIns="0" anchor="t">
            <a:spAutoFit/>
          </a:bodyPr>
          <a:lstStyle/>
          <a:p>
            <a:pPr algn="ctr">
              <a:lnSpc>
                <a:spcPct val="125000"/>
              </a:lnSpc>
            </a:pPr>
            <a:r>
              <a:rPr sz="1700" b="1">
                <a:solidFill>
                  <a:srgbClr val="F2A33A"/>
                </a:solidFill>
                <a:latin typeface="Avenir Next"/>
              </a:rPr>
              <a:t>Where does the relief go first? </a:t>
            </a:r>
            <a:r>
              <a:rPr lang="en-US" sz="1700" b="1">
                <a:solidFill>
                  <a:srgbClr val="F2A33A"/>
                </a:solidFill>
                <a:latin typeface="Avenir Next"/>
              </a:rPr>
              <a:t>Now you don't have to </a:t>
            </a:r>
            <a:r>
              <a:rPr sz="1700" b="1">
                <a:solidFill>
                  <a:srgbClr val="F2A33A"/>
                </a:solidFill>
                <a:latin typeface="Avenir Next"/>
              </a:rPr>
              <a:t>guess.</a:t>
            </a:r>
          </a:p>
        </p:txBody>
      </p:sp>
    </p:spTree>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92532-AF2F-6C12-4A17-39710BEA5E3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76B04FB-1357-38E2-7B57-51AABFB8D3F1}"/>
              </a:ext>
            </a:extLst>
          </p:cNvPr>
          <p:cNvSpPr/>
          <p:nvPr/>
        </p:nvSpPr>
        <p:spPr>
          <a:xfrm>
            <a:off x="0" y="0"/>
            <a:ext cx="12191695" cy="6858000"/>
          </a:xfrm>
          <a:prstGeom prst="rect">
            <a:avLst/>
          </a:prstGeom>
          <a:solidFill>
            <a:srgbClr val="070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bg_data.jpg">
            <a:extLst>
              <a:ext uri="{FF2B5EF4-FFF2-40B4-BE49-F238E27FC236}">
                <a16:creationId xmlns:a16="http://schemas.microsoft.com/office/drawing/2014/main" id="{594ABAD0-8A08-D6E7-D0EF-EF36FE78256A}"/>
              </a:ext>
            </a:extLst>
          </p:cNvPr>
          <p:cNvPicPr>
            <a:picLocks noChangeAspect="1"/>
          </p:cNvPicPr>
          <p:nvPr/>
        </p:nvPicPr>
        <p:blipFill>
          <a:blip r:embed="rId3"/>
          <a:stretch>
            <a:fillRect/>
          </a:stretch>
        </p:blipFill>
        <p:spPr>
          <a:xfrm>
            <a:off x="0" y="0"/>
            <a:ext cx="12191695" cy="6858000"/>
          </a:xfrm>
          <a:prstGeom prst="rect">
            <a:avLst/>
          </a:prstGeom>
        </p:spPr>
      </p:pic>
      <p:sp>
        <p:nvSpPr>
          <p:cNvPr id="4" name="Rectangle 3">
            <a:extLst>
              <a:ext uri="{FF2B5EF4-FFF2-40B4-BE49-F238E27FC236}">
                <a16:creationId xmlns:a16="http://schemas.microsoft.com/office/drawing/2014/main" id="{706D8FE8-DABF-6B43-CE23-0BB7DA32C0D5}"/>
              </a:ext>
            </a:extLst>
          </p:cNvPr>
          <p:cNvSpPr/>
          <p:nvPr/>
        </p:nvSpPr>
        <p:spPr>
          <a:xfrm>
            <a:off x="0" y="0"/>
            <a:ext cx="12191695" cy="6858000"/>
          </a:xfrm>
          <a:prstGeom prst="rect">
            <a:avLst/>
          </a:prstGeom>
          <a:solidFill>
            <a:srgbClr val="07090C">
              <a:alpha val="7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CC2B4997-1143-1753-E1EE-A05D297D6F67}"/>
              </a:ext>
            </a:extLst>
          </p:cNvPr>
          <p:cNvSpPr txBox="1"/>
          <p:nvPr/>
        </p:nvSpPr>
        <p:spPr>
          <a:xfrm>
            <a:off x="1981047" y="2990386"/>
            <a:ext cx="8229600" cy="890628"/>
          </a:xfrm>
          <a:prstGeom prst="rect">
            <a:avLst/>
          </a:prstGeom>
          <a:noFill/>
        </p:spPr>
        <p:txBody>
          <a:bodyPr wrap="square" lIns="0" tIns="0" rIns="0" bIns="0" anchor="t">
            <a:spAutoFit/>
          </a:bodyPr>
          <a:lstStyle/>
          <a:p>
            <a:pPr algn="ctr">
              <a:lnSpc>
                <a:spcPct val="125000"/>
              </a:lnSpc>
            </a:pPr>
            <a:r>
              <a:rPr lang="en-US" sz="5000" b="1" cap="all" spc="240">
                <a:solidFill>
                  <a:srgbClr val="F2A33A"/>
                </a:solidFill>
                <a:latin typeface="Menlo"/>
              </a:rPr>
              <a:t>Questions?</a:t>
            </a:r>
            <a:endParaRPr lang="en-US"/>
          </a:p>
        </p:txBody>
      </p:sp>
    </p:spTree>
    <p:extLst>
      <p:ext uri="{BB962C8B-B14F-4D97-AF65-F5344CB8AC3E}">
        <p14:creationId xmlns:p14="http://schemas.microsoft.com/office/powerpoint/2010/main" val="1370938895"/>
      </p:ext>
    </p:extLst>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TotalTime>
  <Words>1585</Words>
  <Application>Microsoft Macintosh PowerPoint</Application>
  <PresentationFormat>Widescreen</PresentationFormat>
  <Paragraphs>152</Paragraphs>
  <Slides>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Aptos</vt:lpstr>
      <vt:lpstr>Arial</vt:lpstr>
      <vt:lpstr>Avenir Next</vt:lpstr>
      <vt:lpstr>Calibri</vt:lpstr>
      <vt:lpstr>Menlo</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Christian King</cp:lastModifiedBy>
  <cp:revision>3</cp:revision>
  <dcterms:created xsi:type="dcterms:W3CDTF">2013-01-27T09:14:16Z</dcterms:created>
  <dcterms:modified xsi:type="dcterms:W3CDTF">2026-10-18T14:51:54Z</dcterms:modified>
  <cp:category/>
</cp:coreProperties>
</file>